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9216c989c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9216c989c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59216c989c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59216c989c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59216c989c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59216c989c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9216c989c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9216c989c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59216c989c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59216c989c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59216c989c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59216c989c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9216c989c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59216c989c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59216c989c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59216c989c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59216c989c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59216c989c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59216c989c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59216c989c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59216c989c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59216c989c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59216c989c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59216c989c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59216c989c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59216c989c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5949eb1e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5949eb1e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5949eb1e5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5949eb1e5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5949eb1e5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5949eb1e5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5949eb1e5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5949eb1e5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59216c98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59216c98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9216c989c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59216c989c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59216c989c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59216c989c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59216c989c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59216c989c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9216c989c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59216c989c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9216c989c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59216c989c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5949eb1e5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5949eb1e5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5949eb1e5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5949eb1e5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25.png"/><Relationship Id="rId5"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37.png"/><Relationship Id="rId5"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8.png"/><Relationship Id="rId4" Type="http://schemas.openxmlformats.org/officeDocument/2006/relationships/image" Target="../media/image32.png"/><Relationship Id="rId5"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a:t>RAPPORT ALG4</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2024-2025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0" y="0"/>
            <a:ext cx="9144000" cy="514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fr"/>
              <a:t>K OPTIMAL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IRIS</a:t>
            </a:r>
            <a:endParaRPr/>
          </a:p>
        </p:txBody>
      </p:sp>
      <p:pic>
        <p:nvPicPr>
          <p:cNvPr id="66" name="Google Shape;66;p15"/>
          <p:cNvPicPr preferRelativeResize="0"/>
          <p:nvPr/>
        </p:nvPicPr>
        <p:blipFill>
          <a:blip r:embed="rId3">
            <a:alphaModFix/>
          </a:blip>
          <a:stretch>
            <a:fillRect/>
          </a:stretch>
        </p:blipFill>
        <p:spPr>
          <a:xfrm>
            <a:off x="311700" y="1152475"/>
            <a:ext cx="3748650" cy="2961475"/>
          </a:xfrm>
          <a:prstGeom prst="rect">
            <a:avLst/>
          </a:prstGeom>
          <a:noFill/>
          <a:ln>
            <a:noFill/>
          </a:ln>
        </p:spPr>
      </p:pic>
      <p:pic>
        <p:nvPicPr>
          <p:cNvPr id="67" name="Google Shape;67;p15"/>
          <p:cNvPicPr preferRelativeResize="0"/>
          <p:nvPr/>
        </p:nvPicPr>
        <p:blipFill>
          <a:blip r:embed="rId4">
            <a:alphaModFix/>
          </a:blip>
          <a:stretch>
            <a:fillRect/>
          </a:stretch>
        </p:blipFill>
        <p:spPr>
          <a:xfrm>
            <a:off x="5083650" y="1152475"/>
            <a:ext cx="3748649" cy="2961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BREAST CANCER</a:t>
            </a:r>
            <a:endParaRPr/>
          </a:p>
        </p:txBody>
      </p:sp>
      <p:pic>
        <p:nvPicPr>
          <p:cNvPr id="73" name="Google Shape;73;p16"/>
          <p:cNvPicPr preferRelativeResize="0"/>
          <p:nvPr/>
        </p:nvPicPr>
        <p:blipFill>
          <a:blip r:embed="rId3">
            <a:alphaModFix/>
          </a:blip>
          <a:stretch>
            <a:fillRect/>
          </a:stretch>
        </p:blipFill>
        <p:spPr>
          <a:xfrm>
            <a:off x="311700" y="1152475"/>
            <a:ext cx="3720353" cy="2961475"/>
          </a:xfrm>
          <a:prstGeom prst="rect">
            <a:avLst/>
          </a:prstGeom>
          <a:noFill/>
          <a:ln>
            <a:noFill/>
          </a:ln>
        </p:spPr>
      </p:pic>
      <p:pic>
        <p:nvPicPr>
          <p:cNvPr id="74" name="Google Shape;74;p16"/>
          <p:cNvPicPr preferRelativeResize="0"/>
          <p:nvPr/>
        </p:nvPicPr>
        <p:blipFill>
          <a:blip r:embed="rId4">
            <a:alphaModFix/>
          </a:blip>
          <a:stretch>
            <a:fillRect/>
          </a:stretch>
        </p:blipFill>
        <p:spPr>
          <a:xfrm>
            <a:off x="5111952" y="1154526"/>
            <a:ext cx="3720350" cy="295737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WINE</a:t>
            </a:r>
            <a:endParaRPr/>
          </a:p>
        </p:txBody>
      </p:sp>
      <p:pic>
        <p:nvPicPr>
          <p:cNvPr id="80" name="Google Shape;80;p17"/>
          <p:cNvPicPr preferRelativeResize="0"/>
          <p:nvPr/>
        </p:nvPicPr>
        <p:blipFill>
          <a:blip r:embed="rId3">
            <a:alphaModFix/>
          </a:blip>
          <a:stretch>
            <a:fillRect/>
          </a:stretch>
        </p:blipFill>
        <p:spPr>
          <a:xfrm>
            <a:off x="311700" y="1152475"/>
            <a:ext cx="3720350" cy="2961475"/>
          </a:xfrm>
          <a:prstGeom prst="rect">
            <a:avLst/>
          </a:prstGeom>
          <a:noFill/>
          <a:ln>
            <a:noFill/>
          </a:ln>
        </p:spPr>
      </p:pic>
      <p:pic>
        <p:nvPicPr>
          <p:cNvPr id="81" name="Google Shape;81;p17"/>
          <p:cNvPicPr preferRelativeResize="0"/>
          <p:nvPr/>
        </p:nvPicPr>
        <p:blipFill>
          <a:blip r:embed="rId4">
            <a:alphaModFix/>
          </a:blip>
          <a:stretch>
            <a:fillRect/>
          </a:stretch>
        </p:blipFill>
        <p:spPr>
          <a:xfrm>
            <a:off x="5111950" y="1152475"/>
            <a:ext cx="3720350" cy="2961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MALL CUSTOMERS</a:t>
            </a:r>
            <a:endParaRPr/>
          </a:p>
        </p:txBody>
      </p:sp>
      <p:pic>
        <p:nvPicPr>
          <p:cNvPr id="87" name="Google Shape;87;p18"/>
          <p:cNvPicPr preferRelativeResize="0"/>
          <p:nvPr/>
        </p:nvPicPr>
        <p:blipFill>
          <a:blip r:embed="rId3">
            <a:alphaModFix/>
          </a:blip>
          <a:stretch>
            <a:fillRect/>
          </a:stretch>
        </p:blipFill>
        <p:spPr>
          <a:xfrm>
            <a:off x="311700" y="1152475"/>
            <a:ext cx="3720351" cy="2961475"/>
          </a:xfrm>
          <a:prstGeom prst="rect">
            <a:avLst/>
          </a:prstGeom>
          <a:noFill/>
          <a:ln>
            <a:noFill/>
          </a:ln>
        </p:spPr>
      </p:pic>
      <p:pic>
        <p:nvPicPr>
          <p:cNvPr id="88" name="Google Shape;88;p18"/>
          <p:cNvPicPr preferRelativeResize="0"/>
          <p:nvPr/>
        </p:nvPicPr>
        <p:blipFill>
          <a:blip r:embed="rId4">
            <a:alphaModFix/>
          </a:blip>
          <a:stretch>
            <a:fillRect/>
          </a:stretch>
        </p:blipFill>
        <p:spPr>
          <a:xfrm>
            <a:off x="5111950" y="1149538"/>
            <a:ext cx="3720350" cy="29673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CONCLUSION</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solidFill>
                  <a:schemeClr val="dk1"/>
                </a:solidFill>
              </a:rPr>
              <a:t>La méthode du coude et celle de la silhouette donnent des résultats similaires dans la majorité des cas. Cependant, pour le jeu de données Wine, la silhouette a clairement indiqué 3 clusters, tandis que le coude était visuellement ambigu entre 2 et 3. Cela montre que la silhouette offre une mesure plus objective et fiable dans les cas limites.</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1" type="body"/>
          </p:nvPr>
        </p:nvSpPr>
        <p:spPr>
          <a:xfrm>
            <a:off x="0" y="0"/>
            <a:ext cx="9144000" cy="514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fr"/>
              <a:t>KMEANS vs KMEANS++ (no outliers)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IRIS</a:t>
            </a:r>
            <a:endParaRPr/>
          </a:p>
        </p:txBody>
      </p:sp>
      <p:pic>
        <p:nvPicPr>
          <p:cNvPr id="105" name="Google Shape;105;p21"/>
          <p:cNvPicPr preferRelativeResize="0"/>
          <p:nvPr/>
        </p:nvPicPr>
        <p:blipFill>
          <a:blip r:embed="rId3">
            <a:alphaModFix/>
          </a:blip>
          <a:stretch>
            <a:fillRect/>
          </a:stretch>
        </p:blipFill>
        <p:spPr>
          <a:xfrm>
            <a:off x="5083650" y="1152475"/>
            <a:ext cx="3748651" cy="2938825"/>
          </a:xfrm>
          <a:prstGeom prst="rect">
            <a:avLst/>
          </a:prstGeom>
          <a:noFill/>
          <a:ln>
            <a:noFill/>
          </a:ln>
        </p:spPr>
      </p:pic>
      <p:pic>
        <p:nvPicPr>
          <p:cNvPr id="106" name="Google Shape;106;p21"/>
          <p:cNvPicPr preferRelativeResize="0"/>
          <p:nvPr/>
        </p:nvPicPr>
        <p:blipFill>
          <a:blip r:embed="rId4">
            <a:alphaModFix/>
          </a:blip>
          <a:stretch>
            <a:fillRect/>
          </a:stretch>
        </p:blipFill>
        <p:spPr>
          <a:xfrm>
            <a:off x="311700" y="1141138"/>
            <a:ext cx="3748650" cy="2961498"/>
          </a:xfrm>
          <a:prstGeom prst="rect">
            <a:avLst/>
          </a:prstGeom>
          <a:noFill/>
          <a:ln>
            <a:noFill/>
          </a:ln>
        </p:spPr>
      </p:pic>
      <p:sp>
        <p:nvSpPr>
          <p:cNvPr id="107" name="Google Shape;107;p21"/>
          <p:cNvSpPr txBox="1"/>
          <p:nvPr/>
        </p:nvSpPr>
        <p:spPr>
          <a:xfrm>
            <a:off x="5083575" y="4102625"/>
            <a:ext cx="37488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Iris (K-Means++) | K=2 ===</a:t>
            </a:r>
            <a:endParaRPr sz="1000">
              <a:solidFill>
                <a:schemeClr val="dk1"/>
              </a:solidFill>
            </a:endParaRPr>
          </a:p>
          <a:p>
            <a:pPr indent="0" lvl="0" marL="0" rtl="0" algn="l">
              <a:spcBef>
                <a:spcPts val="0"/>
              </a:spcBef>
              <a:spcAft>
                <a:spcPts val="0"/>
              </a:spcAft>
              <a:buNone/>
            </a:pPr>
            <a:r>
              <a:rPr lang="fr" sz="1000">
                <a:solidFill>
                  <a:schemeClr val="dk1"/>
                </a:solidFill>
              </a:rPr>
              <a:t>Inertia: 217.50</a:t>
            </a:r>
            <a:endParaRPr sz="1000">
              <a:solidFill>
                <a:schemeClr val="dk1"/>
              </a:solidFill>
            </a:endParaRPr>
          </a:p>
          <a:p>
            <a:pPr indent="0" lvl="0" marL="0" rtl="0" algn="l">
              <a:spcBef>
                <a:spcPts val="0"/>
              </a:spcBef>
              <a:spcAft>
                <a:spcPts val="0"/>
              </a:spcAft>
              <a:buNone/>
            </a:pPr>
            <a:r>
              <a:rPr lang="fr" sz="1000">
                <a:solidFill>
                  <a:schemeClr val="dk1"/>
                </a:solidFill>
              </a:rPr>
              <a:t>Adjusted Rand Index: 0.56</a:t>
            </a:r>
            <a:endParaRPr sz="1000">
              <a:solidFill>
                <a:schemeClr val="dk1"/>
              </a:solidFill>
            </a:endParaRPr>
          </a:p>
          <a:p>
            <a:pPr indent="0" lvl="0" marL="0" rtl="0" algn="l">
              <a:spcBef>
                <a:spcPts val="0"/>
              </a:spcBef>
              <a:spcAft>
                <a:spcPts val="0"/>
              </a:spcAft>
              <a:buNone/>
            </a:pPr>
            <a:r>
              <a:rPr lang="fr" sz="1000">
                <a:solidFill>
                  <a:schemeClr val="dk1"/>
                </a:solidFill>
              </a:rPr>
              <a:t>Silhouette Score: 0.58</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
        <p:nvSpPr>
          <p:cNvPr id="108" name="Google Shape;108;p21"/>
          <p:cNvSpPr txBox="1"/>
          <p:nvPr/>
        </p:nvSpPr>
        <p:spPr>
          <a:xfrm>
            <a:off x="311625" y="4102625"/>
            <a:ext cx="37488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Iris | K=2 ===</a:t>
            </a:r>
            <a:endParaRPr sz="1000">
              <a:solidFill>
                <a:schemeClr val="dk1"/>
              </a:solidFill>
            </a:endParaRPr>
          </a:p>
          <a:p>
            <a:pPr indent="0" lvl="0" marL="0" rtl="0" algn="l">
              <a:spcBef>
                <a:spcPts val="0"/>
              </a:spcBef>
              <a:spcAft>
                <a:spcPts val="0"/>
              </a:spcAft>
              <a:buNone/>
            </a:pPr>
            <a:r>
              <a:rPr lang="fr" sz="1000">
                <a:solidFill>
                  <a:schemeClr val="dk1"/>
                </a:solidFill>
              </a:rPr>
              <a:t>Inertie : 217.50</a:t>
            </a:r>
            <a:endParaRPr sz="1000">
              <a:solidFill>
                <a:schemeClr val="dk1"/>
              </a:solidFill>
            </a:endParaRPr>
          </a:p>
          <a:p>
            <a:pPr indent="0" lvl="0" marL="0" rtl="0" algn="l">
              <a:spcBef>
                <a:spcPts val="0"/>
              </a:spcBef>
              <a:spcAft>
                <a:spcPts val="0"/>
              </a:spcAft>
              <a:buNone/>
            </a:pPr>
            <a:r>
              <a:rPr lang="fr" sz="1000">
                <a:solidFill>
                  <a:schemeClr val="dk1"/>
                </a:solidFill>
              </a:rPr>
              <a:t>Adjusted Rand Index : 0.56</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0.58</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BREAST CANCER</a:t>
            </a:r>
            <a:endParaRPr/>
          </a:p>
        </p:txBody>
      </p:sp>
      <p:pic>
        <p:nvPicPr>
          <p:cNvPr id="114" name="Google Shape;114;p22"/>
          <p:cNvPicPr preferRelativeResize="0"/>
          <p:nvPr/>
        </p:nvPicPr>
        <p:blipFill>
          <a:blip r:embed="rId3">
            <a:alphaModFix/>
          </a:blip>
          <a:stretch>
            <a:fillRect/>
          </a:stretch>
        </p:blipFill>
        <p:spPr>
          <a:xfrm>
            <a:off x="311700" y="1152475"/>
            <a:ext cx="3748800" cy="2961476"/>
          </a:xfrm>
          <a:prstGeom prst="rect">
            <a:avLst/>
          </a:prstGeom>
          <a:noFill/>
          <a:ln>
            <a:noFill/>
          </a:ln>
        </p:spPr>
      </p:pic>
      <p:pic>
        <p:nvPicPr>
          <p:cNvPr id="115" name="Google Shape;115;p22"/>
          <p:cNvPicPr preferRelativeResize="0"/>
          <p:nvPr/>
        </p:nvPicPr>
        <p:blipFill>
          <a:blip r:embed="rId4">
            <a:alphaModFix/>
          </a:blip>
          <a:stretch>
            <a:fillRect/>
          </a:stretch>
        </p:blipFill>
        <p:spPr>
          <a:xfrm>
            <a:off x="5083500" y="1152475"/>
            <a:ext cx="3748800" cy="2961475"/>
          </a:xfrm>
          <a:prstGeom prst="rect">
            <a:avLst/>
          </a:prstGeom>
          <a:noFill/>
          <a:ln>
            <a:noFill/>
          </a:ln>
        </p:spPr>
      </p:pic>
      <p:sp>
        <p:nvSpPr>
          <p:cNvPr id="116" name="Google Shape;116;p22"/>
          <p:cNvSpPr txBox="1"/>
          <p:nvPr/>
        </p:nvSpPr>
        <p:spPr>
          <a:xfrm>
            <a:off x="311625" y="4102625"/>
            <a:ext cx="37488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Breast Cancer | K=2 ===</a:t>
            </a:r>
            <a:endParaRPr sz="1000">
              <a:solidFill>
                <a:schemeClr val="dk1"/>
              </a:solidFill>
            </a:endParaRPr>
          </a:p>
          <a:p>
            <a:pPr indent="0" lvl="0" marL="0" rtl="0" algn="l">
              <a:spcBef>
                <a:spcPts val="0"/>
              </a:spcBef>
              <a:spcAft>
                <a:spcPts val="0"/>
              </a:spcAft>
              <a:buNone/>
            </a:pPr>
            <a:r>
              <a:rPr lang="fr" sz="1000">
                <a:solidFill>
                  <a:schemeClr val="dk1"/>
                </a:solidFill>
              </a:rPr>
              <a:t>Inertie : 8342.54</a:t>
            </a:r>
            <a:endParaRPr sz="1000">
              <a:solidFill>
                <a:schemeClr val="dk1"/>
              </a:solidFill>
            </a:endParaRPr>
          </a:p>
          <a:p>
            <a:pPr indent="0" lvl="0" marL="0" rtl="0" algn="l">
              <a:spcBef>
                <a:spcPts val="0"/>
              </a:spcBef>
              <a:spcAft>
                <a:spcPts val="0"/>
              </a:spcAft>
              <a:buNone/>
            </a:pPr>
            <a:r>
              <a:rPr lang="fr" sz="1000">
                <a:solidFill>
                  <a:schemeClr val="dk1"/>
                </a:solidFill>
              </a:rPr>
              <a:t>Adjusted Rand Index : 0.72</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0.33</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
        <p:nvSpPr>
          <p:cNvPr id="117" name="Google Shape;117;p22"/>
          <p:cNvSpPr txBox="1"/>
          <p:nvPr/>
        </p:nvSpPr>
        <p:spPr>
          <a:xfrm>
            <a:off x="5083500" y="4113950"/>
            <a:ext cx="37488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Breast Cancer (K-Means++) | K=2 ===</a:t>
            </a:r>
            <a:endParaRPr sz="1000">
              <a:solidFill>
                <a:schemeClr val="dk1"/>
              </a:solidFill>
            </a:endParaRPr>
          </a:p>
          <a:p>
            <a:pPr indent="0" lvl="0" marL="0" rtl="0" algn="l">
              <a:spcBef>
                <a:spcPts val="0"/>
              </a:spcBef>
              <a:spcAft>
                <a:spcPts val="0"/>
              </a:spcAft>
              <a:buNone/>
            </a:pPr>
            <a:r>
              <a:rPr lang="fr" sz="1000">
                <a:solidFill>
                  <a:schemeClr val="dk1"/>
                </a:solidFill>
              </a:rPr>
              <a:t>Inertia: 8342.54</a:t>
            </a:r>
            <a:endParaRPr sz="1000">
              <a:solidFill>
                <a:schemeClr val="dk1"/>
              </a:solidFill>
            </a:endParaRPr>
          </a:p>
          <a:p>
            <a:pPr indent="0" lvl="0" marL="0" rtl="0" algn="l">
              <a:spcBef>
                <a:spcPts val="0"/>
              </a:spcBef>
              <a:spcAft>
                <a:spcPts val="0"/>
              </a:spcAft>
              <a:buNone/>
            </a:pPr>
            <a:r>
              <a:rPr lang="fr" sz="1000">
                <a:solidFill>
                  <a:schemeClr val="dk1"/>
                </a:solidFill>
              </a:rPr>
              <a:t>Adjusted Rand Index: 0.72</a:t>
            </a:r>
            <a:endParaRPr sz="1000">
              <a:solidFill>
                <a:schemeClr val="dk1"/>
              </a:solidFill>
            </a:endParaRPr>
          </a:p>
          <a:p>
            <a:pPr indent="0" lvl="0" marL="0" rtl="0" algn="l">
              <a:spcBef>
                <a:spcPts val="0"/>
              </a:spcBef>
              <a:spcAft>
                <a:spcPts val="0"/>
              </a:spcAft>
              <a:buNone/>
            </a:pPr>
            <a:r>
              <a:rPr lang="fr" sz="1000">
                <a:solidFill>
                  <a:schemeClr val="dk1"/>
                </a:solidFill>
              </a:rPr>
              <a:t>Silhouette Score: 0.33</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WINE</a:t>
            </a:r>
            <a:endParaRPr/>
          </a:p>
        </p:txBody>
      </p:sp>
      <p:sp>
        <p:nvSpPr>
          <p:cNvPr id="123" name="Google Shape;12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fr" sz="1000">
                <a:solidFill>
                  <a:schemeClr val="dk1"/>
                </a:solidFill>
              </a:rPr>
              <a:t>=== Breast Cancer | K=2 ===</a:t>
            </a:r>
            <a:endParaRPr sz="1000">
              <a:solidFill>
                <a:schemeClr val="dk1"/>
              </a:solidFill>
            </a:endParaRPr>
          </a:p>
          <a:p>
            <a:pPr indent="0" lvl="0" marL="0" rtl="0" algn="l">
              <a:lnSpc>
                <a:spcPct val="100000"/>
              </a:lnSpc>
              <a:spcBef>
                <a:spcPts val="0"/>
              </a:spcBef>
              <a:spcAft>
                <a:spcPts val="0"/>
              </a:spcAft>
              <a:buNone/>
            </a:pPr>
            <a:r>
              <a:rPr lang="fr" sz="1000">
                <a:solidFill>
                  <a:schemeClr val="dk1"/>
                </a:solidFill>
              </a:rPr>
              <a:t>Inertie : 8342.54</a:t>
            </a:r>
            <a:endParaRPr sz="1000">
              <a:solidFill>
                <a:schemeClr val="dk1"/>
              </a:solidFill>
            </a:endParaRPr>
          </a:p>
          <a:p>
            <a:pPr indent="0" lvl="0" marL="0" rtl="0" algn="l">
              <a:lnSpc>
                <a:spcPct val="100000"/>
              </a:lnSpc>
              <a:spcBef>
                <a:spcPts val="0"/>
              </a:spcBef>
              <a:spcAft>
                <a:spcPts val="0"/>
              </a:spcAft>
              <a:buNone/>
            </a:pPr>
            <a:r>
              <a:rPr lang="fr" sz="1000">
                <a:solidFill>
                  <a:schemeClr val="dk1"/>
                </a:solidFill>
              </a:rPr>
              <a:t>Adjusted Rand Index : 0.72</a:t>
            </a:r>
            <a:endParaRPr sz="1000">
              <a:solidFill>
                <a:schemeClr val="dk1"/>
              </a:solidFill>
            </a:endParaRPr>
          </a:p>
          <a:p>
            <a:pPr indent="0" lvl="0" marL="0" rtl="0" algn="l">
              <a:lnSpc>
                <a:spcPct val="100000"/>
              </a:lnSpc>
              <a:spcBef>
                <a:spcPts val="0"/>
              </a:spcBef>
              <a:spcAft>
                <a:spcPts val="0"/>
              </a:spcAft>
              <a:buNone/>
            </a:pPr>
            <a:r>
              <a:rPr lang="fr" sz="1000">
                <a:solidFill>
                  <a:schemeClr val="dk1"/>
                </a:solidFill>
              </a:rPr>
              <a:t>Score de silhouette : 0.33</a:t>
            </a:r>
            <a:endParaRPr sz="1000">
              <a:solidFill>
                <a:schemeClr val="dk1"/>
              </a:solidFill>
            </a:endParaRPr>
          </a:p>
          <a:p>
            <a:pPr indent="0" lvl="0" marL="0" rtl="0" algn="l">
              <a:lnSpc>
                <a:spcPct val="100000"/>
              </a:lnSpc>
              <a:spcBef>
                <a:spcPts val="0"/>
              </a:spcBef>
              <a:spcAft>
                <a:spcPts val="0"/>
              </a:spcAft>
              <a:buNone/>
            </a:pPr>
            <a:r>
              <a:t/>
            </a:r>
            <a:endParaRPr sz="1000">
              <a:solidFill>
                <a:schemeClr val="dk1"/>
              </a:solidFill>
            </a:endParaRPr>
          </a:p>
          <a:p>
            <a:pPr indent="0" lvl="0" marL="0" rtl="0" algn="l">
              <a:lnSpc>
                <a:spcPct val="100000"/>
              </a:lnSpc>
              <a:spcBef>
                <a:spcPts val="0"/>
              </a:spcBef>
              <a:spcAft>
                <a:spcPts val="0"/>
              </a:spcAft>
              <a:buNone/>
            </a:pPr>
            <a:r>
              <a:t/>
            </a:r>
            <a:endParaRPr sz="1000">
              <a:solidFill>
                <a:schemeClr val="dk1"/>
              </a:solidFill>
            </a:endParaRPr>
          </a:p>
          <a:p>
            <a:pPr indent="0" lvl="0" marL="0" rtl="0" algn="l">
              <a:lnSpc>
                <a:spcPct val="100000"/>
              </a:lnSpc>
              <a:spcBef>
                <a:spcPts val="0"/>
              </a:spcBef>
              <a:spcAft>
                <a:spcPts val="0"/>
              </a:spcAft>
              <a:buNone/>
            </a:pPr>
            <a:r>
              <a:t/>
            </a:r>
            <a:endParaRPr/>
          </a:p>
          <a:p>
            <a:pPr indent="0" lvl="0" marL="0" rtl="0" algn="l">
              <a:spcBef>
                <a:spcPts val="0"/>
              </a:spcBef>
              <a:spcAft>
                <a:spcPts val="1200"/>
              </a:spcAft>
              <a:buNone/>
            </a:pPr>
            <a:r>
              <a:t/>
            </a:r>
            <a:endParaRPr/>
          </a:p>
        </p:txBody>
      </p:sp>
      <p:pic>
        <p:nvPicPr>
          <p:cNvPr id="124" name="Google Shape;124;p23"/>
          <p:cNvPicPr preferRelativeResize="0"/>
          <p:nvPr/>
        </p:nvPicPr>
        <p:blipFill>
          <a:blip r:embed="rId3">
            <a:alphaModFix/>
          </a:blip>
          <a:stretch>
            <a:fillRect/>
          </a:stretch>
        </p:blipFill>
        <p:spPr>
          <a:xfrm>
            <a:off x="311700" y="1152475"/>
            <a:ext cx="3748800" cy="2939983"/>
          </a:xfrm>
          <a:prstGeom prst="rect">
            <a:avLst/>
          </a:prstGeom>
          <a:noFill/>
          <a:ln>
            <a:noFill/>
          </a:ln>
        </p:spPr>
      </p:pic>
      <p:pic>
        <p:nvPicPr>
          <p:cNvPr id="125" name="Google Shape;125;p23"/>
          <p:cNvPicPr preferRelativeResize="0"/>
          <p:nvPr/>
        </p:nvPicPr>
        <p:blipFill>
          <a:blip r:embed="rId4">
            <a:alphaModFix/>
          </a:blip>
          <a:stretch>
            <a:fillRect/>
          </a:stretch>
        </p:blipFill>
        <p:spPr>
          <a:xfrm>
            <a:off x="5083500" y="1152038"/>
            <a:ext cx="3748799" cy="2940850"/>
          </a:xfrm>
          <a:prstGeom prst="rect">
            <a:avLst/>
          </a:prstGeom>
          <a:noFill/>
          <a:ln>
            <a:noFill/>
          </a:ln>
        </p:spPr>
      </p:pic>
      <p:sp>
        <p:nvSpPr>
          <p:cNvPr id="126" name="Google Shape;126;p23"/>
          <p:cNvSpPr txBox="1"/>
          <p:nvPr/>
        </p:nvSpPr>
        <p:spPr>
          <a:xfrm>
            <a:off x="311625" y="4102625"/>
            <a:ext cx="37488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Wine | K=3 ===</a:t>
            </a:r>
            <a:endParaRPr sz="1000">
              <a:solidFill>
                <a:schemeClr val="dk1"/>
              </a:solidFill>
            </a:endParaRPr>
          </a:p>
          <a:p>
            <a:pPr indent="0" lvl="0" marL="0" rtl="0" algn="l">
              <a:spcBef>
                <a:spcPts val="0"/>
              </a:spcBef>
              <a:spcAft>
                <a:spcPts val="0"/>
              </a:spcAft>
              <a:buNone/>
            </a:pPr>
            <a:r>
              <a:rPr lang="fr" sz="1000">
                <a:solidFill>
                  <a:schemeClr val="dk1"/>
                </a:solidFill>
              </a:rPr>
              <a:t>Inertie : 1079.66</a:t>
            </a:r>
            <a:endParaRPr sz="1000">
              <a:solidFill>
                <a:schemeClr val="dk1"/>
              </a:solidFill>
            </a:endParaRPr>
          </a:p>
          <a:p>
            <a:pPr indent="0" lvl="0" marL="0" rtl="0" algn="l">
              <a:spcBef>
                <a:spcPts val="0"/>
              </a:spcBef>
              <a:spcAft>
                <a:spcPts val="0"/>
              </a:spcAft>
              <a:buNone/>
            </a:pPr>
            <a:r>
              <a:rPr lang="fr" sz="1000">
                <a:solidFill>
                  <a:schemeClr val="dk1"/>
                </a:solidFill>
              </a:rPr>
              <a:t>Adjusted Rand Index : 0.95</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0.30</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
        <p:nvSpPr>
          <p:cNvPr id="127" name="Google Shape;127;p23"/>
          <p:cNvSpPr txBox="1"/>
          <p:nvPr/>
        </p:nvSpPr>
        <p:spPr>
          <a:xfrm>
            <a:off x="5083500" y="4102625"/>
            <a:ext cx="37488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Wine (K-Means++) | K=3 ===</a:t>
            </a:r>
            <a:endParaRPr sz="1000">
              <a:solidFill>
                <a:schemeClr val="dk1"/>
              </a:solidFill>
            </a:endParaRPr>
          </a:p>
          <a:p>
            <a:pPr indent="0" lvl="0" marL="0" rtl="0" algn="l">
              <a:spcBef>
                <a:spcPts val="0"/>
              </a:spcBef>
              <a:spcAft>
                <a:spcPts val="0"/>
              </a:spcAft>
              <a:buNone/>
            </a:pPr>
            <a:r>
              <a:rPr lang="fr" sz="1000">
                <a:solidFill>
                  <a:schemeClr val="dk1"/>
                </a:solidFill>
              </a:rPr>
              <a:t>Inertia: 1079.66</a:t>
            </a:r>
            <a:endParaRPr sz="1000">
              <a:solidFill>
                <a:schemeClr val="dk1"/>
              </a:solidFill>
            </a:endParaRPr>
          </a:p>
          <a:p>
            <a:pPr indent="0" lvl="0" marL="0" rtl="0" algn="l">
              <a:spcBef>
                <a:spcPts val="0"/>
              </a:spcBef>
              <a:spcAft>
                <a:spcPts val="0"/>
              </a:spcAft>
              <a:buNone/>
            </a:pPr>
            <a:r>
              <a:rPr lang="fr" sz="1000">
                <a:solidFill>
                  <a:schemeClr val="dk1"/>
                </a:solidFill>
              </a:rPr>
              <a:t>Adjusted Rand Index: 0.95</a:t>
            </a:r>
            <a:endParaRPr sz="1000">
              <a:solidFill>
                <a:schemeClr val="dk1"/>
              </a:solidFill>
            </a:endParaRPr>
          </a:p>
          <a:p>
            <a:pPr indent="0" lvl="0" marL="0" rtl="0" algn="l">
              <a:spcBef>
                <a:spcPts val="0"/>
              </a:spcBef>
              <a:spcAft>
                <a:spcPts val="0"/>
              </a:spcAft>
              <a:buNone/>
            </a:pPr>
            <a:r>
              <a:rPr lang="fr" sz="1000">
                <a:solidFill>
                  <a:schemeClr val="dk1"/>
                </a:solidFill>
              </a:rPr>
              <a:t>Silhouette Score: 0.30</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MALL CUSTOMERS</a:t>
            </a:r>
            <a:endParaRPr/>
          </a:p>
        </p:txBody>
      </p:sp>
      <p:pic>
        <p:nvPicPr>
          <p:cNvPr id="133" name="Google Shape;133;p24"/>
          <p:cNvPicPr preferRelativeResize="0"/>
          <p:nvPr/>
        </p:nvPicPr>
        <p:blipFill>
          <a:blip r:embed="rId3">
            <a:alphaModFix/>
          </a:blip>
          <a:stretch>
            <a:fillRect/>
          </a:stretch>
        </p:blipFill>
        <p:spPr>
          <a:xfrm>
            <a:off x="311700" y="1152475"/>
            <a:ext cx="3748800" cy="2950575"/>
          </a:xfrm>
          <a:prstGeom prst="rect">
            <a:avLst/>
          </a:prstGeom>
          <a:noFill/>
          <a:ln>
            <a:noFill/>
          </a:ln>
        </p:spPr>
      </p:pic>
      <p:pic>
        <p:nvPicPr>
          <p:cNvPr id="134" name="Google Shape;134;p24"/>
          <p:cNvPicPr preferRelativeResize="0"/>
          <p:nvPr/>
        </p:nvPicPr>
        <p:blipFill>
          <a:blip r:embed="rId4">
            <a:alphaModFix/>
          </a:blip>
          <a:stretch>
            <a:fillRect/>
          </a:stretch>
        </p:blipFill>
        <p:spPr>
          <a:xfrm>
            <a:off x="5083500" y="1143313"/>
            <a:ext cx="3748799" cy="2968896"/>
          </a:xfrm>
          <a:prstGeom prst="rect">
            <a:avLst/>
          </a:prstGeom>
          <a:noFill/>
          <a:ln>
            <a:noFill/>
          </a:ln>
        </p:spPr>
      </p:pic>
      <p:sp>
        <p:nvSpPr>
          <p:cNvPr id="135" name="Google Shape;135;p24"/>
          <p:cNvSpPr txBox="1"/>
          <p:nvPr/>
        </p:nvSpPr>
        <p:spPr>
          <a:xfrm>
            <a:off x="311625" y="4102625"/>
            <a:ext cx="37488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Mall Customers | K=6 ===</a:t>
            </a:r>
            <a:endParaRPr sz="1000">
              <a:solidFill>
                <a:schemeClr val="dk1"/>
              </a:solidFill>
            </a:endParaRPr>
          </a:p>
          <a:p>
            <a:pPr indent="0" lvl="0" marL="0" rtl="0" algn="l">
              <a:spcBef>
                <a:spcPts val="0"/>
              </a:spcBef>
              <a:spcAft>
                <a:spcPts val="0"/>
              </a:spcAft>
              <a:buNone/>
            </a:pPr>
            <a:r>
              <a:rPr lang="fr" sz="1000">
                <a:solidFill>
                  <a:schemeClr val="dk1"/>
                </a:solidFill>
              </a:rPr>
              <a:t>Inertie : 139.57</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0.42</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
        <p:nvSpPr>
          <p:cNvPr id="136" name="Google Shape;136;p24"/>
          <p:cNvSpPr txBox="1"/>
          <p:nvPr/>
        </p:nvSpPr>
        <p:spPr>
          <a:xfrm>
            <a:off x="5083500" y="4112200"/>
            <a:ext cx="37488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Mall Customers (K-Means++) | K=6 ===</a:t>
            </a:r>
            <a:endParaRPr sz="1000">
              <a:solidFill>
                <a:schemeClr val="dk1"/>
              </a:solidFill>
            </a:endParaRPr>
          </a:p>
          <a:p>
            <a:pPr indent="0" lvl="0" marL="0" rtl="0" algn="l">
              <a:spcBef>
                <a:spcPts val="0"/>
              </a:spcBef>
              <a:spcAft>
                <a:spcPts val="0"/>
              </a:spcAft>
              <a:buNone/>
            </a:pPr>
            <a:r>
              <a:rPr lang="fr" sz="1000">
                <a:solidFill>
                  <a:schemeClr val="dk1"/>
                </a:solidFill>
              </a:rPr>
              <a:t>Inertia: 139.57</a:t>
            </a:r>
            <a:endParaRPr sz="1000">
              <a:solidFill>
                <a:schemeClr val="dk1"/>
              </a:solidFill>
            </a:endParaRPr>
          </a:p>
          <a:p>
            <a:pPr indent="0" lvl="0" marL="0" rtl="0" algn="l">
              <a:spcBef>
                <a:spcPts val="0"/>
              </a:spcBef>
              <a:spcAft>
                <a:spcPts val="0"/>
              </a:spcAft>
              <a:buNone/>
            </a:pPr>
            <a:r>
              <a:rPr lang="fr" sz="1000">
                <a:solidFill>
                  <a:schemeClr val="dk1"/>
                </a:solidFill>
              </a:rPr>
              <a:t>Silhouette Score: 0.42</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CONCLUSION</a:t>
            </a:r>
            <a:endParaRPr/>
          </a:p>
        </p:txBody>
      </p:sp>
      <p:sp>
        <p:nvSpPr>
          <p:cNvPr id="142" name="Google Shape;14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solidFill>
                  <a:schemeClr val="dk1"/>
                </a:solidFill>
              </a:rPr>
              <a:t>Il n’y a pas de différence notable entre K-Means et K-Means++ ici, car l’option n_init=10 permet déjà de relancer l’algorithme plusieurs fois avec différentes positions initiales. Cela compense l'avantage théorique de K-Means++, qui consiste à mieux initialiser les centroïdes.</a:t>
            </a:r>
            <a:endParaRPr>
              <a:solidFill>
                <a:schemeClr val="dk1"/>
              </a:solidFill>
            </a:endParaRPr>
          </a:p>
        </p:txBody>
      </p:sp>
      <p:pic>
        <p:nvPicPr>
          <p:cNvPr id="143" name="Google Shape;143;p25"/>
          <p:cNvPicPr preferRelativeResize="0"/>
          <p:nvPr/>
        </p:nvPicPr>
        <p:blipFill>
          <a:blip r:embed="rId3">
            <a:alphaModFix/>
          </a:blip>
          <a:stretch>
            <a:fillRect/>
          </a:stretch>
        </p:blipFill>
        <p:spPr>
          <a:xfrm>
            <a:off x="311700" y="2725763"/>
            <a:ext cx="4894067" cy="269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idx="1" type="body"/>
          </p:nvPr>
        </p:nvSpPr>
        <p:spPr>
          <a:xfrm>
            <a:off x="0" y="0"/>
            <a:ext cx="9144000" cy="514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fr"/>
              <a:t>BOXPLOT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IRIS</a:t>
            </a:r>
            <a:endParaRPr/>
          </a:p>
        </p:txBody>
      </p:sp>
      <p:pic>
        <p:nvPicPr>
          <p:cNvPr id="154" name="Google Shape;154;p27"/>
          <p:cNvPicPr preferRelativeResize="0"/>
          <p:nvPr/>
        </p:nvPicPr>
        <p:blipFill>
          <a:blip r:embed="rId3">
            <a:alphaModFix/>
          </a:blip>
          <a:stretch>
            <a:fillRect/>
          </a:stretch>
        </p:blipFill>
        <p:spPr>
          <a:xfrm>
            <a:off x="311625" y="1152475"/>
            <a:ext cx="3748650" cy="2961475"/>
          </a:xfrm>
          <a:prstGeom prst="rect">
            <a:avLst/>
          </a:prstGeom>
          <a:noFill/>
          <a:ln>
            <a:noFill/>
          </a:ln>
        </p:spPr>
      </p:pic>
      <p:pic>
        <p:nvPicPr>
          <p:cNvPr id="155" name="Google Shape;155;p27"/>
          <p:cNvPicPr preferRelativeResize="0"/>
          <p:nvPr/>
        </p:nvPicPr>
        <p:blipFill>
          <a:blip r:embed="rId4">
            <a:alphaModFix/>
          </a:blip>
          <a:stretch>
            <a:fillRect/>
          </a:stretch>
        </p:blipFill>
        <p:spPr>
          <a:xfrm>
            <a:off x="5083650" y="1152475"/>
            <a:ext cx="3748650" cy="2961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BREAST CANCER</a:t>
            </a:r>
            <a:endParaRPr/>
          </a:p>
        </p:txBody>
      </p:sp>
      <p:pic>
        <p:nvPicPr>
          <p:cNvPr id="161" name="Google Shape;161;p28"/>
          <p:cNvPicPr preferRelativeResize="0"/>
          <p:nvPr/>
        </p:nvPicPr>
        <p:blipFill>
          <a:blip r:embed="rId3">
            <a:alphaModFix/>
          </a:blip>
          <a:stretch>
            <a:fillRect/>
          </a:stretch>
        </p:blipFill>
        <p:spPr>
          <a:xfrm>
            <a:off x="311700" y="1152475"/>
            <a:ext cx="2608876" cy="2060958"/>
          </a:xfrm>
          <a:prstGeom prst="rect">
            <a:avLst/>
          </a:prstGeom>
          <a:noFill/>
          <a:ln>
            <a:noFill/>
          </a:ln>
        </p:spPr>
      </p:pic>
      <p:pic>
        <p:nvPicPr>
          <p:cNvPr id="162" name="Google Shape;162;p28"/>
          <p:cNvPicPr preferRelativeResize="0"/>
          <p:nvPr/>
        </p:nvPicPr>
        <p:blipFill>
          <a:blip r:embed="rId4">
            <a:alphaModFix/>
          </a:blip>
          <a:stretch>
            <a:fillRect/>
          </a:stretch>
        </p:blipFill>
        <p:spPr>
          <a:xfrm>
            <a:off x="3267563" y="1152475"/>
            <a:ext cx="2608874" cy="2060950"/>
          </a:xfrm>
          <a:prstGeom prst="rect">
            <a:avLst/>
          </a:prstGeom>
          <a:noFill/>
          <a:ln>
            <a:noFill/>
          </a:ln>
        </p:spPr>
      </p:pic>
      <p:pic>
        <p:nvPicPr>
          <p:cNvPr id="163" name="Google Shape;163;p28"/>
          <p:cNvPicPr preferRelativeResize="0"/>
          <p:nvPr/>
        </p:nvPicPr>
        <p:blipFill>
          <a:blip r:embed="rId5">
            <a:alphaModFix/>
          </a:blip>
          <a:stretch>
            <a:fillRect/>
          </a:stretch>
        </p:blipFill>
        <p:spPr>
          <a:xfrm>
            <a:off x="6223425" y="1152475"/>
            <a:ext cx="2608875" cy="2060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WINE</a:t>
            </a:r>
            <a:endParaRPr/>
          </a:p>
        </p:txBody>
      </p:sp>
      <p:pic>
        <p:nvPicPr>
          <p:cNvPr id="169" name="Google Shape;169;p29"/>
          <p:cNvPicPr preferRelativeResize="0"/>
          <p:nvPr/>
        </p:nvPicPr>
        <p:blipFill>
          <a:blip r:embed="rId3">
            <a:alphaModFix/>
          </a:blip>
          <a:stretch>
            <a:fillRect/>
          </a:stretch>
        </p:blipFill>
        <p:spPr>
          <a:xfrm>
            <a:off x="311700" y="1152475"/>
            <a:ext cx="3748800" cy="2961475"/>
          </a:xfrm>
          <a:prstGeom prst="rect">
            <a:avLst/>
          </a:prstGeom>
          <a:noFill/>
          <a:ln>
            <a:noFill/>
          </a:ln>
        </p:spPr>
      </p:pic>
      <p:pic>
        <p:nvPicPr>
          <p:cNvPr id="170" name="Google Shape;170;p29"/>
          <p:cNvPicPr preferRelativeResize="0"/>
          <p:nvPr/>
        </p:nvPicPr>
        <p:blipFill>
          <a:blip r:embed="rId4">
            <a:alphaModFix/>
          </a:blip>
          <a:stretch>
            <a:fillRect/>
          </a:stretch>
        </p:blipFill>
        <p:spPr>
          <a:xfrm>
            <a:off x="5083575" y="1155325"/>
            <a:ext cx="3748800" cy="2961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MALL CUSTOMERS</a:t>
            </a:r>
            <a:endParaRPr/>
          </a:p>
        </p:txBody>
      </p:sp>
      <p:pic>
        <p:nvPicPr>
          <p:cNvPr id="176" name="Google Shape;176;p30"/>
          <p:cNvPicPr preferRelativeResize="0"/>
          <p:nvPr/>
        </p:nvPicPr>
        <p:blipFill>
          <a:blip r:embed="rId3">
            <a:alphaModFix/>
          </a:blip>
          <a:stretch>
            <a:fillRect/>
          </a:stretch>
        </p:blipFill>
        <p:spPr>
          <a:xfrm>
            <a:off x="311625" y="1155325"/>
            <a:ext cx="2608850" cy="2060535"/>
          </a:xfrm>
          <a:prstGeom prst="rect">
            <a:avLst/>
          </a:prstGeom>
          <a:noFill/>
          <a:ln>
            <a:noFill/>
          </a:ln>
        </p:spPr>
      </p:pic>
      <p:pic>
        <p:nvPicPr>
          <p:cNvPr id="177" name="Google Shape;177;p30"/>
          <p:cNvPicPr preferRelativeResize="0"/>
          <p:nvPr/>
        </p:nvPicPr>
        <p:blipFill>
          <a:blip r:embed="rId4">
            <a:alphaModFix/>
          </a:blip>
          <a:stretch>
            <a:fillRect/>
          </a:stretch>
        </p:blipFill>
        <p:spPr>
          <a:xfrm>
            <a:off x="6002275" y="1155325"/>
            <a:ext cx="2608850" cy="2060525"/>
          </a:xfrm>
          <a:prstGeom prst="rect">
            <a:avLst/>
          </a:prstGeom>
          <a:noFill/>
          <a:ln>
            <a:noFill/>
          </a:ln>
        </p:spPr>
      </p:pic>
      <p:pic>
        <p:nvPicPr>
          <p:cNvPr id="178" name="Google Shape;178;p30"/>
          <p:cNvPicPr preferRelativeResize="0"/>
          <p:nvPr/>
        </p:nvPicPr>
        <p:blipFill>
          <a:blip r:embed="rId5">
            <a:alphaModFix/>
          </a:blip>
          <a:stretch>
            <a:fillRect/>
          </a:stretch>
        </p:blipFill>
        <p:spPr>
          <a:xfrm>
            <a:off x="3156950" y="1155125"/>
            <a:ext cx="2608850" cy="20609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idx="1" type="body"/>
          </p:nvPr>
        </p:nvSpPr>
        <p:spPr>
          <a:xfrm>
            <a:off x="0" y="0"/>
            <a:ext cx="9144000" cy="514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fr"/>
              <a:t>IQR (écart inter-quartile)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IRIS</a:t>
            </a:r>
            <a:endParaRPr/>
          </a:p>
        </p:txBody>
      </p:sp>
      <p:pic>
        <p:nvPicPr>
          <p:cNvPr id="189" name="Google Shape;189;p32"/>
          <p:cNvPicPr preferRelativeResize="0"/>
          <p:nvPr/>
        </p:nvPicPr>
        <p:blipFill>
          <a:blip r:embed="rId3">
            <a:alphaModFix/>
          </a:blip>
          <a:stretch>
            <a:fillRect/>
          </a:stretch>
        </p:blipFill>
        <p:spPr>
          <a:xfrm>
            <a:off x="311700" y="1152475"/>
            <a:ext cx="3748650" cy="2961475"/>
          </a:xfrm>
          <a:prstGeom prst="rect">
            <a:avLst/>
          </a:prstGeom>
          <a:noFill/>
          <a:ln>
            <a:noFill/>
          </a:ln>
        </p:spPr>
      </p:pic>
      <p:pic>
        <p:nvPicPr>
          <p:cNvPr id="190" name="Google Shape;190;p32"/>
          <p:cNvPicPr preferRelativeResize="0"/>
          <p:nvPr/>
        </p:nvPicPr>
        <p:blipFill>
          <a:blip r:embed="rId4">
            <a:alphaModFix/>
          </a:blip>
          <a:stretch>
            <a:fillRect/>
          </a:stretch>
        </p:blipFill>
        <p:spPr>
          <a:xfrm>
            <a:off x="5083650" y="1152475"/>
            <a:ext cx="3748651" cy="2961475"/>
          </a:xfrm>
          <a:prstGeom prst="rect">
            <a:avLst/>
          </a:prstGeom>
          <a:noFill/>
          <a:ln>
            <a:noFill/>
          </a:ln>
        </p:spPr>
      </p:pic>
      <p:sp>
        <p:nvSpPr>
          <p:cNvPr id="191" name="Google Shape;191;p32"/>
          <p:cNvSpPr txBox="1"/>
          <p:nvPr/>
        </p:nvSpPr>
        <p:spPr>
          <a:xfrm>
            <a:off x="311625" y="4102625"/>
            <a:ext cx="37488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Iris Dataset | K=2 ===</a:t>
            </a:r>
            <a:endParaRPr sz="1000">
              <a:solidFill>
                <a:schemeClr val="dk1"/>
              </a:solidFill>
            </a:endParaRPr>
          </a:p>
          <a:p>
            <a:pPr indent="0" lvl="0" marL="0" rtl="0" algn="l">
              <a:spcBef>
                <a:spcPts val="0"/>
              </a:spcBef>
              <a:spcAft>
                <a:spcPts val="0"/>
              </a:spcAft>
              <a:buNone/>
            </a:pPr>
            <a:r>
              <a:rPr lang="fr" sz="1000">
                <a:solidFill>
                  <a:schemeClr val="dk1"/>
                </a:solidFill>
              </a:rPr>
              <a:t>Inertie : 222.36</a:t>
            </a:r>
            <a:endParaRPr sz="1000">
              <a:solidFill>
                <a:schemeClr val="dk1"/>
              </a:solidFill>
            </a:endParaRPr>
          </a:p>
          <a:p>
            <a:pPr indent="0" lvl="0" marL="0" rtl="0" algn="l">
              <a:spcBef>
                <a:spcPts val="0"/>
              </a:spcBef>
              <a:spcAft>
                <a:spcPts val="0"/>
              </a:spcAft>
              <a:buNone/>
            </a:pPr>
            <a:r>
              <a:rPr lang="fr" sz="1000">
                <a:solidFill>
                  <a:schemeClr val="dk1"/>
                </a:solidFill>
              </a:rPr>
              <a:t>Adjusted Rand Index : 0.57</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0.58</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
        <p:nvSpPr>
          <p:cNvPr id="192" name="Google Shape;192;p32"/>
          <p:cNvSpPr txBox="1"/>
          <p:nvPr/>
        </p:nvSpPr>
        <p:spPr>
          <a:xfrm>
            <a:off x="5083575" y="4102625"/>
            <a:ext cx="37488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Iris Dataset Filtered IQR | K=2 ===</a:t>
            </a:r>
            <a:endParaRPr sz="1000">
              <a:solidFill>
                <a:schemeClr val="dk1"/>
              </a:solidFill>
            </a:endParaRPr>
          </a:p>
          <a:p>
            <a:pPr indent="0" lvl="0" marL="0" rtl="0" algn="l">
              <a:spcBef>
                <a:spcPts val="0"/>
              </a:spcBef>
              <a:spcAft>
                <a:spcPts val="0"/>
              </a:spcAft>
              <a:buNone/>
            </a:pPr>
            <a:r>
              <a:rPr lang="fr" sz="1000">
                <a:solidFill>
                  <a:schemeClr val="dk1"/>
                </a:solidFill>
              </a:rPr>
              <a:t>Inertie : 217.50</a:t>
            </a:r>
            <a:endParaRPr sz="1000">
              <a:solidFill>
                <a:schemeClr val="dk1"/>
              </a:solidFill>
            </a:endParaRPr>
          </a:p>
          <a:p>
            <a:pPr indent="0" lvl="0" marL="0" rtl="0" algn="l">
              <a:spcBef>
                <a:spcPts val="0"/>
              </a:spcBef>
              <a:spcAft>
                <a:spcPts val="0"/>
              </a:spcAft>
              <a:buNone/>
            </a:pPr>
            <a:r>
              <a:rPr lang="fr" sz="1000">
                <a:solidFill>
                  <a:schemeClr val="dk1"/>
                </a:solidFill>
              </a:rPr>
              <a:t>Adjusted Rand Index : 0.58</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0.58</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BREAST CANCER</a:t>
            </a:r>
            <a:endParaRPr/>
          </a:p>
        </p:txBody>
      </p:sp>
      <p:sp>
        <p:nvSpPr>
          <p:cNvPr id="198" name="Google Shape;198;p33"/>
          <p:cNvSpPr txBox="1"/>
          <p:nvPr/>
        </p:nvSpPr>
        <p:spPr>
          <a:xfrm>
            <a:off x="311625" y="4102625"/>
            <a:ext cx="37488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Breast Cancer Dataset | K=2 ===</a:t>
            </a:r>
            <a:endParaRPr sz="1000">
              <a:solidFill>
                <a:schemeClr val="dk1"/>
              </a:solidFill>
            </a:endParaRPr>
          </a:p>
          <a:p>
            <a:pPr indent="0" lvl="0" marL="0" rtl="0" algn="l">
              <a:spcBef>
                <a:spcPts val="0"/>
              </a:spcBef>
              <a:spcAft>
                <a:spcPts val="0"/>
              </a:spcAft>
              <a:buNone/>
            </a:pPr>
            <a:r>
              <a:rPr lang="fr" sz="1000">
                <a:solidFill>
                  <a:schemeClr val="dk1"/>
                </a:solidFill>
              </a:rPr>
              <a:t>Inertie : 11595.53</a:t>
            </a:r>
            <a:endParaRPr sz="1000">
              <a:solidFill>
                <a:schemeClr val="dk1"/>
              </a:solidFill>
            </a:endParaRPr>
          </a:p>
          <a:p>
            <a:pPr indent="0" lvl="0" marL="0" rtl="0" algn="l">
              <a:spcBef>
                <a:spcPts val="0"/>
              </a:spcBef>
              <a:spcAft>
                <a:spcPts val="0"/>
              </a:spcAft>
              <a:buNone/>
            </a:pPr>
            <a:r>
              <a:rPr lang="fr" sz="1000">
                <a:solidFill>
                  <a:schemeClr val="dk1"/>
                </a:solidFill>
              </a:rPr>
              <a:t>Adjusted Rand Index : 0.65</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0.34</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
        <p:nvSpPr>
          <p:cNvPr id="199" name="Google Shape;199;p33"/>
          <p:cNvSpPr txBox="1"/>
          <p:nvPr/>
        </p:nvSpPr>
        <p:spPr>
          <a:xfrm>
            <a:off x="5083575" y="4102625"/>
            <a:ext cx="37488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Breast Cancer Dataset Filtered IQR | K=2 ===</a:t>
            </a:r>
            <a:endParaRPr sz="1000">
              <a:solidFill>
                <a:schemeClr val="dk1"/>
              </a:solidFill>
            </a:endParaRPr>
          </a:p>
          <a:p>
            <a:pPr indent="0" lvl="0" marL="0" rtl="0" algn="l">
              <a:spcBef>
                <a:spcPts val="0"/>
              </a:spcBef>
              <a:spcAft>
                <a:spcPts val="0"/>
              </a:spcAft>
              <a:buNone/>
            </a:pPr>
            <a:r>
              <a:rPr lang="fr" sz="1000">
                <a:solidFill>
                  <a:schemeClr val="dk1"/>
                </a:solidFill>
              </a:rPr>
              <a:t>Inertie : 8342.54</a:t>
            </a:r>
            <a:endParaRPr sz="1000">
              <a:solidFill>
                <a:schemeClr val="dk1"/>
              </a:solidFill>
            </a:endParaRPr>
          </a:p>
          <a:p>
            <a:pPr indent="0" lvl="0" marL="0" rtl="0" algn="l">
              <a:spcBef>
                <a:spcPts val="0"/>
              </a:spcBef>
              <a:spcAft>
                <a:spcPts val="0"/>
              </a:spcAft>
              <a:buNone/>
            </a:pPr>
            <a:r>
              <a:rPr lang="fr" sz="1000">
                <a:solidFill>
                  <a:schemeClr val="dk1"/>
                </a:solidFill>
              </a:rPr>
              <a:t>Adjusted Rand Index : 0.72</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0.33</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pic>
        <p:nvPicPr>
          <p:cNvPr id="200" name="Google Shape;200;p33"/>
          <p:cNvPicPr preferRelativeResize="0"/>
          <p:nvPr/>
        </p:nvPicPr>
        <p:blipFill>
          <a:blip r:embed="rId3">
            <a:alphaModFix/>
          </a:blip>
          <a:stretch>
            <a:fillRect/>
          </a:stretch>
        </p:blipFill>
        <p:spPr>
          <a:xfrm>
            <a:off x="311625" y="1152475"/>
            <a:ext cx="3748650" cy="2961475"/>
          </a:xfrm>
          <a:prstGeom prst="rect">
            <a:avLst/>
          </a:prstGeom>
          <a:noFill/>
          <a:ln>
            <a:noFill/>
          </a:ln>
        </p:spPr>
      </p:pic>
      <p:pic>
        <p:nvPicPr>
          <p:cNvPr id="201" name="Google Shape;201;p33"/>
          <p:cNvPicPr preferRelativeResize="0"/>
          <p:nvPr/>
        </p:nvPicPr>
        <p:blipFill>
          <a:blip r:embed="rId4">
            <a:alphaModFix/>
          </a:blip>
          <a:stretch>
            <a:fillRect/>
          </a:stretch>
        </p:blipFill>
        <p:spPr>
          <a:xfrm>
            <a:off x="5083575" y="1152475"/>
            <a:ext cx="3748800" cy="2961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WINE</a:t>
            </a:r>
            <a:endParaRPr/>
          </a:p>
        </p:txBody>
      </p:sp>
      <p:sp>
        <p:nvSpPr>
          <p:cNvPr id="207" name="Google Shape;207;p34"/>
          <p:cNvSpPr txBox="1"/>
          <p:nvPr/>
        </p:nvSpPr>
        <p:spPr>
          <a:xfrm>
            <a:off x="311625" y="4102625"/>
            <a:ext cx="37488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Wine Dataset | K=3 ===</a:t>
            </a:r>
            <a:endParaRPr sz="1000">
              <a:solidFill>
                <a:schemeClr val="dk1"/>
              </a:solidFill>
            </a:endParaRPr>
          </a:p>
          <a:p>
            <a:pPr indent="0" lvl="0" marL="0" rtl="0" algn="l">
              <a:spcBef>
                <a:spcPts val="0"/>
              </a:spcBef>
              <a:spcAft>
                <a:spcPts val="0"/>
              </a:spcAft>
              <a:buNone/>
            </a:pPr>
            <a:r>
              <a:rPr lang="fr" sz="1000">
                <a:solidFill>
                  <a:schemeClr val="dk1"/>
                </a:solidFill>
              </a:rPr>
              <a:t>Inertie : 1277.93</a:t>
            </a:r>
            <a:endParaRPr sz="1000">
              <a:solidFill>
                <a:schemeClr val="dk1"/>
              </a:solidFill>
            </a:endParaRPr>
          </a:p>
          <a:p>
            <a:pPr indent="0" lvl="0" marL="0" rtl="0" algn="l">
              <a:spcBef>
                <a:spcPts val="0"/>
              </a:spcBef>
              <a:spcAft>
                <a:spcPts val="0"/>
              </a:spcAft>
              <a:buNone/>
            </a:pPr>
            <a:r>
              <a:rPr lang="fr" sz="1000">
                <a:solidFill>
                  <a:schemeClr val="dk1"/>
                </a:solidFill>
              </a:rPr>
              <a:t>Adjusted Rand Index : 0.90</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0.28</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
        <p:nvSpPr>
          <p:cNvPr id="208" name="Google Shape;208;p34"/>
          <p:cNvSpPr txBox="1"/>
          <p:nvPr/>
        </p:nvSpPr>
        <p:spPr>
          <a:xfrm>
            <a:off x="5083575" y="4102625"/>
            <a:ext cx="37488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Wine Dataset Filtered IQR | K=3 ===</a:t>
            </a:r>
            <a:endParaRPr sz="1000">
              <a:solidFill>
                <a:schemeClr val="dk1"/>
              </a:solidFill>
            </a:endParaRPr>
          </a:p>
          <a:p>
            <a:pPr indent="0" lvl="0" marL="0" rtl="0" algn="l">
              <a:spcBef>
                <a:spcPts val="0"/>
              </a:spcBef>
              <a:spcAft>
                <a:spcPts val="0"/>
              </a:spcAft>
              <a:buNone/>
            </a:pPr>
            <a:r>
              <a:rPr lang="fr" sz="1000">
                <a:solidFill>
                  <a:schemeClr val="dk1"/>
                </a:solidFill>
              </a:rPr>
              <a:t>Inertie : 1079.66</a:t>
            </a:r>
            <a:endParaRPr sz="1000">
              <a:solidFill>
                <a:schemeClr val="dk1"/>
              </a:solidFill>
            </a:endParaRPr>
          </a:p>
          <a:p>
            <a:pPr indent="0" lvl="0" marL="0" rtl="0" algn="l">
              <a:spcBef>
                <a:spcPts val="0"/>
              </a:spcBef>
              <a:spcAft>
                <a:spcPts val="0"/>
              </a:spcAft>
              <a:buNone/>
            </a:pPr>
            <a:r>
              <a:rPr lang="fr" sz="1000">
                <a:solidFill>
                  <a:schemeClr val="dk1"/>
                </a:solidFill>
              </a:rPr>
              <a:t>Adjusted Rand Index : 0.95</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0.30</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pic>
        <p:nvPicPr>
          <p:cNvPr id="209" name="Google Shape;209;p34"/>
          <p:cNvPicPr preferRelativeResize="0"/>
          <p:nvPr/>
        </p:nvPicPr>
        <p:blipFill>
          <a:blip r:embed="rId3">
            <a:alphaModFix/>
          </a:blip>
          <a:stretch>
            <a:fillRect/>
          </a:stretch>
        </p:blipFill>
        <p:spPr>
          <a:xfrm>
            <a:off x="311700" y="1152475"/>
            <a:ext cx="3748799" cy="2961475"/>
          </a:xfrm>
          <a:prstGeom prst="rect">
            <a:avLst/>
          </a:prstGeom>
          <a:noFill/>
          <a:ln>
            <a:noFill/>
          </a:ln>
        </p:spPr>
      </p:pic>
      <p:pic>
        <p:nvPicPr>
          <p:cNvPr id="210" name="Google Shape;210;p34"/>
          <p:cNvPicPr preferRelativeResize="0"/>
          <p:nvPr/>
        </p:nvPicPr>
        <p:blipFill>
          <a:blip r:embed="rId4">
            <a:alphaModFix/>
          </a:blip>
          <a:stretch>
            <a:fillRect/>
          </a:stretch>
        </p:blipFill>
        <p:spPr>
          <a:xfrm>
            <a:off x="5083575" y="1155325"/>
            <a:ext cx="3748799" cy="29614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MALL CUSTOMERS</a:t>
            </a:r>
            <a:endParaRPr/>
          </a:p>
        </p:txBody>
      </p:sp>
      <p:sp>
        <p:nvSpPr>
          <p:cNvPr id="216" name="Google Shape;216;p35"/>
          <p:cNvSpPr txBox="1"/>
          <p:nvPr/>
        </p:nvSpPr>
        <p:spPr>
          <a:xfrm>
            <a:off x="311625" y="4102625"/>
            <a:ext cx="37488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Mall Customers Dataset | K=6 ===</a:t>
            </a:r>
            <a:endParaRPr sz="1000">
              <a:solidFill>
                <a:schemeClr val="dk1"/>
              </a:solidFill>
            </a:endParaRPr>
          </a:p>
          <a:p>
            <a:pPr indent="0" lvl="0" marL="0" rtl="0" algn="l">
              <a:spcBef>
                <a:spcPts val="0"/>
              </a:spcBef>
              <a:spcAft>
                <a:spcPts val="0"/>
              </a:spcAft>
              <a:buNone/>
            </a:pPr>
            <a:r>
              <a:rPr lang="fr" sz="1000">
                <a:solidFill>
                  <a:schemeClr val="dk1"/>
                </a:solidFill>
              </a:rPr>
              <a:t>Inertie : 139.57</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0.42</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sp>
        <p:nvSpPr>
          <p:cNvPr id="217" name="Google Shape;217;p35"/>
          <p:cNvSpPr txBox="1"/>
          <p:nvPr/>
        </p:nvSpPr>
        <p:spPr>
          <a:xfrm>
            <a:off x="5083575" y="4102625"/>
            <a:ext cx="37488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Mall Customers Dataset Filtered IQR | K=6 ===</a:t>
            </a:r>
            <a:endParaRPr sz="1000">
              <a:solidFill>
                <a:schemeClr val="dk1"/>
              </a:solidFill>
            </a:endParaRPr>
          </a:p>
          <a:p>
            <a:pPr indent="0" lvl="0" marL="0" rtl="0" algn="l">
              <a:spcBef>
                <a:spcPts val="0"/>
              </a:spcBef>
              <a:spcAft>
                <a:spcPts val="0"/>
              </a:spcAft>
              <a:buNone/>
            </a:pPr>
            <a:r>
              <a:rPr lang="fr" sz="1000">
                <a:solidFill>
                  <a:schemeClr val="dk1"/>
                </a:solidFill>
              </a:rPr>
              <a:t>Inertie : 134.12</a:t>
            </a:r>
            <a:endParaRPr sz="1000">
              <a:solidFill>
                <a:schemeClr val="dk1"/>
              </a:solidFill>
            </a:endParaRPr>
          </a:p>
          <a:p>
            <a:pPr indent="0" lvl="0" marL="0" rtl="0" algn="l">
              <a:spcBef>
                <a:spcPts val="0"/>
              </a:spcBef>
              <a:spcAft>
                <a:spcPts val="0"/>
              </a:spcAft>
              <a:buNone/>
            </a:pPr>
            <a:r>
              <a:rPr lang="fr" sz="1000">
                <a:solidFill>
                  <a:schemeClr val="dk1"/>
                </a:solidFill>
              </a:rPr>
              <a:t>Score de silhouette : 0.43</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lt2"/>
              </a:solidFill>
            </a:endParaRPr>
          </a:p>
        </p:txBody>
      </p:sp>
      <p:pic>
        <p:nvPicPr>
          <p:cNvPr id="218" name="Google Shape;218;p35"/>
          <p:cNvPicPr preferRelativeResize="0"/>
          <p:nvPr/>
        </p:nvPicPr>
        <p:blipFill>
          <a:blip r:embed="rId3">
            <a:alphaModFix/>
          </a:blip>
          <a:stretch>
            <a:fillRect/>
          </a:stretch>
        </p:blipFill>
        <p:spPr>
          <a:xfrm>
            <a:off x="311700" y="1155325"/>
            <a:ext cx="3748800" cy="2961476"/>
          </a:xfrm>
          <a:prstGeom prst="rect">
            <a:avLst/>
          </a:prstGeom>
          <a:noFill/>
          <a:ln>
            <a:noFill/>
          </a:ln>
        </p:spPr>
      </p:pic>
      <p:pic>
        <p:nvPicPr>
          <p:cNvPr id="219" name="Google Shape;219;p35"/>
          <p:cNvPicPr preferRelativeResize="0"/>
          <p:nvPr/>
        </p:nvPicPr>
        <p:blipFill>
          <a:blip r:embed="rId4">
            <a:alphaModFix/>
          </a:blip>
          <a:stretch>
            <a:fillRect/>
          </a:stretch>
        </p:blipFill>
        <p:spPr>
          <a:xfrm>
            <a:off x="5083212" y="1155325"/>
            <a:ext cx="3749525" cy="29614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CONCLUSION</a:t>
            </a:r>
            <a:endParaRPr/>
          </a:p>
        </p:txBody>
      </p:sp>
      <p:sp>
        <p:nvSpPr>
          <p:cNvPr id="225" name="Google Shape;225;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solidFill>
                  <a:schemeClr val="dk1"/>
                </a:solidFill>
              </a:rPr>
              <a:t>L'application du filtrage IQR a légèrement amélioré l'inertie dans tous les jeux de données, montrant des clusters plus compacts. L'ARI a aussi augmenté, en particulier pour le dataset Breast Cancer (+0.07) et Wine (+0.05), ce qui indique une meilleure concordance avec les vraies classes. Les scores de silhouette sont restés stables, avec une légère amélioration sur certains cas. Globalement, le nettoyage des outliers renforce la qualité des clusters sans altérer la structure des données.</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ph idx="1" type="body"/>
          </p:nvPr>
        </p:nvSpPr>
        <p:spPr>
          <a:xfrm>
            <a:off x="0" y="0"/>
            <a:ext cx="9144000" cy="514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fr"/>
              <a:t>3D VIEW</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MALL CUSTOMERS</a:t>
            </a:r>
            <a:endParaRPr/>
          </a:p>
        </p:txBody>
      </p:sp>
      <p:pic>
        <p:nvPicPr>
          <p:cNvPr id="236" name="Google Shape;236;p38"/>
          <p:cNvPicPr preferRelativeResize="0"/>
          <p:nvPr/>
        </p:nvPicPr>
        <p:blipFill>
          <a:blip r:embed="rId3">
            <a:alphaModFix/>
          </a:blip>
          <a:stretch>
            <a:fillRect/>
          </a:stretch>
        </p:blipFill>
        <p:spPr>
          <a:xfrm>
            <a:off x="311700" y="1155325"/>
            <a:ext cx="2608850" cy="2060950"/>
          </a:xfrm>
          <a:prstGeom prst="rect">
            <a:avLst/>
          </a:prstGeom>
          <a:noFill/>
          <a:ln>
            <a:noFill/>
          </a:ln>
        </p:spPr>
      </p:pic>
      <p:pic>
        <p:nvPicPr>
          <p:cNvPr id="237" name="Google Shape;237;p38"/>
          <p:cNvPicPr preferRelativeResize="0"/>
          <p:nvPr/>
        </p:nvPicPr>
        <p:blipFill>
          <a:blip r:embed="rId4">
            <a:alphaModFix/>
          </a:blip>
          <a:stretch>
            <a:fillRect/>
          </a:stretch>
        </p:blipFill>
        <p:spPr>
          <a:xfrm>
            <a:off x="6223450" y="1155325"/>
            <a:ext cx="2608850" cy="2060950"/>
          </a:xfrm>
          <a:prstGeom prst="rect">
            <a:avLst/>
          </a:prstGeom>
          <a:noFill/>
          <a:ln>
            <a:noFill/>
          </a:ln>
        </p:spPr>
      </p:pic>
      <p:pic>
        <p:nvPicPr>
          <p:cNvPr id="238" name="Google Shape;238;p38"/>
          <p:cNvPicPr preferRelativeResize="0"/>
          <p:nvPr/>
        </p:nvPicPr>
        <p:blipFill>
          <a:blip r:embed="rId5">
            <a:alphaModFix/>
          </a:blip>
          <a:stretch>
            <a:fillRect/>
          </a:stretch>
        </p:blipFill>
        <p:spPr>
          <a:xfrm>
            <a:off x="3267575" y="1155325"/>
            <a:ext cx="2608850" cy="20609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